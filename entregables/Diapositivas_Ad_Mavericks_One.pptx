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de arranque para el cliente. Mensaje: hoy la plataforma sirve para demostraciones; la vamos a convertir en un producto real, seguro y listo para clientes que pagan, sin cambiar lo que ya funciona en pantalla.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Antes/después. Insistir: no reemplazamos lo visual; reforzamos los cimientos para poder abrir a clientes y cobrar con seguridad.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tres pilares. Traducción simple: quién entra (seguridad), dónde se guarda (base sólida), cómo se protege (escudo).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es la pieza que pidió el cliente. Su idea: escribir el nombre y generar un código para la base. La mejoramos: el propio programa hace el registro, así no tocan la base de datos y no hay errores. Solo su equipo tiene acceso, y todo queda auditado.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Cuatro garantías. La cuarta -datos honestos- conecta con el manual de marca: decir la verdad, no prometer resultados automáticos.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Cuatro fases. La Consola de Alta llega en la Fase 1. Regla de oro: no se abre a clientes ni se cobra hasta terminar la seguridad y el motor de reservas.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Cierre. Pedido concreto: decisiones + accesos para arrancar Fase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2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2377440"/>
            <a:ext cx="5669280" cy="5669280"/>
          </a:xfrm>
          <a:prstGeom prst="ellipse">
            <a:avLst/>
          </a:prstGeom>
          <a:ln w="12700">
            <a:solidFill>
              <a:srgbClr val="2E4A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0" y="-1463040"/>
            <a:ext cx="5669280" cy="5669280"/>
          </a:xfrm>
          <a:prstGeom prst="ellipse">
            <a:avLst/>
          </a:prstGeom>
          <a:ln w="12700">
            <a:solidFill>
              <a:srgbClr val="2A44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MAVERICKS</a:t>
            </a:r>
            <a:pPr algn="l" indent="0" marL="0">
              <a:buNone/>
            </a:pPr>
            <a:r>
              <a:rPr lang="en-US" sz="1100" b="1" dirty="0">
                <a:solidFill>
                  <a:srgbClr val="07140E"/>
                </a:solidFill>
                <a:highlight>
                  <a:srgbClr val="00A1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 ONE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PARA DIRECCIÓN · AGOSTO 2026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2240280"/>
            <a:ext cx="10515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vamos a hacer con su</a:t>
            </a:r>
            <a:endParaRPr lang="en-US" sz="4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de medios.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66928" y="4160520"/>
            <a:ext cx="8778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3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una demostración a un producto real, seguro y multiempresa — listo para atender a sus clientes y cobrar con orden.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5257800"/>
            <a:ext cx="950976" cy="457200"/>
          </a:xfrm>
          <a:prstGeom prst="roundRect">
            <a:avLst>
              <a:gd name="adj" fmla="val 50000"/>
            </a:avLst>
          </a:prstGeom>
          <a:solidFill>
            <a:srgbClr val="1E3227"/>
          </a:solidFill>
          <a:ln w="12700">
            <a:solidFill>
              <a:srgbClr val="00A1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94944" y="5431536"/>
            <a:ext cx="109728" cy="109728"/>
          </a:xfrm>
          <a:prstGeom prst="ellipse">
            <a:avLst/>
          </a:prstGeom>
          <a:solidFill>
            <a:srgbClr val="00A100"/>
          </a:solidFill>
          <a:ln/>
        </p:spPr>
      </p:sp>
      <p:sp>
        <p:nvSpPr>
          <p:cNvPr id="10" name="Text 8"/>
          <p:cNvSpPr/>
          <p:nvPr/>
        </p:nvSpPr>
        <p:spPr>
          <a:xfrm>
            <a:off x="859536" y="5257800"/>
            <a:ext cx="676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728216" y="5257800"/>
            <a:ext cx="1581912" cy="457200"/>
          </a:xfrm>
          <a:prstGeom prst="roundRect">
            <a:avLst>
              <a:gd name="adj" fmla="val 50000"/>
            </a:avLst>
          </a:prstGeom>
          <a:solidFill>
            <a:srgbClr val="1E3227"/>
          </a:solidFill>
          <a:ln w="12700">
            <a:solidFill>
              <a:srgbClr val="4B9E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74520" y="5431536"/>
            <a:ext cx="109728" cy="109728"/>
          </a:xfrm>
          <a:prstGeom prst="ellipse">
            <a:avLst/>
          </a:prstGeom>
          <a:solidFill>
            <a:srgbClr val="4B9EFF"/>
          </a:solidFill>
          <a:ln/>
        </p:spPr>
      </p:sp>
      <p:sp>
        <p:nvSpPr>
          <p:cNvPr id="13" name="Text 11"/>
          <p:cNvSpPr/>
          <p:nvPr/>
        </p:nvSpPr>
        <p:spPr>
          <a:xfrm>
            <a:off x="2039112" y="5257800"/>
            <a:ext cx="1307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Multiempresa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538728" y="5257800"/>
            <a:ext cx="2107692" cy="457200"/>
          </a:xfrm>
          <a:prstGeom prst="roundRect">
            <a:avLst>
              <a:gd name="adj" fmla="val 50000"/>
            </a:avLst>
          </a:prstGeom>
          <a:solidFill>
            <a:srgbClr val="1E3227"/>
          </a:solidFill>
          <a:ln w="12700">
            <a:solidFill>
              <a:srgbClr val="F4BC3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85032" y="5431536"/>
            <a:ext cx="109728" cy="109728"/>
          </a:xfrm>
          <a:prstGeom prst="ellipse">
            <a:avLst/>
          </a:prstGeom>
          <a:solidFill>
            <a:srgbClr val="F4BC3B"/>
          </a:solidFill>
          <a:ln/>
        </p:spPr>
      </p:sp>
      <p:sp>
        <p:nvSpPr>
          <p:cNvPr id="16" name="Text 14"/>
          <p:cNvSpPr/>
          <p:nvPr/>
        </p:nvSpPr>
        <p:spPr>
          <a:xfrm>
            <a:off x="3849624" y="5257800"/>
            <a:ext cx="18333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Listo para cobrar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3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Dónde estamos hoy y a dónde vamos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plataforma actual es perfecta para mostrar. Aún no es apta para abrir a clientes externos ni mover dinero. Esto es lo que cambia.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074920" cy="4206240"/>
          </a:xfrm>
          <a:prstGeom prst="roundRect">
            <a:avLst>
              <a:gd name="adj" fmla="val 3043"/>
            </a:avLst>
          </a:prstGeom>
          <a:solidFill>
            <a:srgbClr val="FFF3EF"/>
          </a:solidFill>
          <a:ln w="12700">
            <a:solidFill>
              <a:srgbClr val="FFC7B8"/>
            </a:solidFill>
            <a:prstDash val="solid"/>
          </a:ln>
          <a:effectLst>
            <a:outerShdw sx="100000" sy="100000" kx="0" ky="0" algn="bl" rotWithShape="0" blurRad="114300" dist="38100" dir="5400000">
              <a:srgbClr val="7A8A80">
                <a:alpha val="3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5740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FFE1D8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574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13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· MAQUETA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" y="25603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3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Sirve para mostrar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3108960"/>
            <a:ext cx="4572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5A4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acceso depende de un sistema prestado, no de una cuenta propia y segura.</a:t>
            </a:r>
            <a:endParaRPr lang="en-US" sz="135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5A4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información vive medio suelta; difícil de proteger y de crecer.</a:t>
            </a:r>
            <a:endParaRPr lang="en-US" sz="135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5A4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aprueba un plan en pantalla, pero no hay compra real ni factura.</a:t>
            </a:r>
            <a:endParaRPr lang="en-US" sz="135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5A4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usuario por empresa; sin roles ni respaldos probados.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806440" y="3703320"/>
            <a:ext cx="548640" cy="548640"/>
          </a:xfrm>
          <a:prstGeom prst="ellipse">
            <a:avLst/>
          </a:prstGeom>
          <a:solidFill>
            <a:srgbClr val="00A100"/>
          </a:solidFill>
          <a:ln/>
        </p:spPr>
      </p:sp>
      <p:sp>
        <p:nvSpPr>
          <p:cNvPr id="10" name="Text 8"/>
          <p:cNvSpPr/>
          <p:nvPr/>
        </p:nvSpPr>
        <p:spPr>
          <a:xfrm>
            <a:off x="5806440" y="3703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71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565392" y="1828800"/>
            <a:ext cx="5074920" cy="4206240"/>
          </a:xfrm>
          <a:prstGeom prst="roundRect">
            <a:avLst>
              <a:gd name="adj" fmla="val 3043"/>
            </a:avLst>
          </a:prstGeom>
          <a:solidFill>
            <a:srgbClr val="EFF9EF"/>
          </a:solidFill>
          <a:ln w="12700">
            <a:solidFill>
              <a:srgbClr val="A9D9AA"/>
            </a:solidFill>
            <a:prstDash val="solid"/>
          </a:ln>
          <a:effectLst>
            <a:outerShdw sx="100000" sy="100000" kx="0" ky="0" algn="bl" rotWithShape="0" blurRad="114300" dist="38100" dir="5400000">
              <a:srgbClr val="7A8A80">
                <a:alpha val="3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793992" y="2057400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D7F0D7"/>
          </a:solidFill>
          <a:ln/>
        </p:spPr>
      </p:sp>
      <p:sp>
        <p:nvSpPr>
          <p:cNvPr id="13" name="Text 11"/>
          <p:cNvSpPr/>
          <p:nvPr/>
        </p:nvSpPr>
        <p:spPr>
          <a:xfrm>
            <a:off x="6793992" y="205740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26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MAÑANA · PRODUCTO REAL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793992" y="25603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3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Sirve para operar y cobrar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839712" y="3108960"/>
            <a:ext cx="4572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C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cliente entra con su propia cuenta corporativa segura, por invitación.</a:t>
            </a:r>
            <a:endParaRPr lang="en-US" sz="135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C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la información ordenada, protegida y con historial.</a:t>
            </a:r>
            <a:endParaRPr lang="en-US" sz="135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C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Reservas, órdenes, facturas y auditoría: compra vinculante de verdad.</a:t>
            </a:r>
            <a:endParaRPr lang="en-US" sz="135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C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Varias personas por empresa, cada una con su rol; respaldos y alertas.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3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vamos a reforzar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cambiamos las pantallas. Reforzamos tres cimientos sobre Supabase (datos y acceso) e infraestructura AWS.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447288" cy="3749040"/>
          </a:xfrm>
          <a:prstGeom prst="roundRect">
            <a:avLst>
              <a:gd name="adj" fmla="val 3714"/>
            </a:avLst>
          </a:prstGeom>
          <a:solidFill>
            <a:srgbClr val="FFFFFF"/>
          </a:solidFill>
          <a:ln w="12700">
            <a:solidFill>
              <a:srgbClr val="D7DDD8"/>
            </a:solidFill>
            <a:prstDash val="solid"/>
          </a:ln>
          <a:effectLst>
            <a:outerShdw sx="100000" sy="100000" kx="0" ky="0" algn="bl" rotWithShape="0" blurRad="114300" dist="38100" dir="5400000">
              <a:srgbClr val="7A8A80">
                <a:alpha val="3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286000"/>
            <a:ext cx="685800" cy="685800"/>
          </a:xfrm>
          <a:prstGeom prst="ellipse">
            <a:avLst/>
          </a:prstGeom>
          <a:solidFill>
            <a:srgbClr val="00A10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2860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71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68680" y="31546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3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 segura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68680" y="3657600"/>
            <a:ext cx="28346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F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empresa entra con su cuenta, por invitación, con roles y permisos. Nadie entra por la puerta de atrás.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70832" y="1920240"/>
            <a:ext cx="3447288" cy="3749040"/>
          </a:xfrm>
          <a:prstGeom prst="roundRect">
            <a:avLst>
              <a:gd name="adj" fmla="val 3714"/>
            </a:avLst>
          </a:prstGeom>
          <a:solidFill>
            <a:srgbClr val="FFFFFF"/>
          </a:solidFill>
          <a:ln w="12700">
            <a:solidFill>
              <a:srgbClr val="D7DDD8"/>
            </a:solidFill>
            <a:prstDash val="solid"/>
          </a:ln>
          <a:effectLst>
            <a:outerShdw sx="100000" sy="100000" kx="0" ky="0" algn="bl" rotWithShape="0" blurRad="114300" dist="38100" dir="5400000">
              <a:srgbClr val="7A8A80">
                <a:alpha val="3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90872" y="2286000"/>
            <a:ext cx="685800" cy="685800"/>
          </a:xfrm>
          <a:prstGeom prst="ellipse">
            <a:avLst/>
          </a:prstGeom>
          <a:solidFill>
            <a:srgbClr val="4B9EFF"/>
          </a:solidFill>
          <a:ln/>
        </p:spPr>
      </p:sp>
      <p:sp>
        <p:nvSpPr>
          <p:cNvPr id="11" name="Text 9"/>
          <p:cNvSpPr/>
          <p:nvPr/>
        </p:nvSpPr>
        <p:spPr>
          <a:xfrm>
            <a:off x="4690872" y="22860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690872" y="31546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3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sólida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690872" y="3657600"/>
            <a:ext cx="28346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F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datos en una base robusta y ordenada (Supabase). Cada cliente aislado: nunca ve datos de otro.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193024" y="1920240"/>
            <a:ext cx="3447288" cy="3749040"/>
          </a:xfrm>
          <a:prstGeom prst="roundRect">
            <a:avLst>
              <a:gd name="adj" fmla="val 3714"/>
            </a:avLst>
          </a:prstGeom>
          <a:solidFill>
            <a:srgbClr val="FFFFFF"/>
          </a:solidFill>
          <a:ln w="12700">
            <a:solidFill>
              <a:srgbClr val="D7DDD8"/>
            </a:solidFill>
            <a:prstDash val="solid"/>
          </a:ln>
          <a:effectLst>
            <a:outerShdw sx="100000" sy="100000" kx="0" ky="0" algn="bl" rotWithShape="0" blurRad="114300" dist="38100" dir="5400000">
              <a:srgbClr val="7A8A80">
                <a:alpha val="3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513064" y="2286000"/>
            <a:ext cx="685800" cy="685800"/>
          </a:xfrm>
          <a:prstGeom prst="ellipse">
            <a:avLst/>
          </a:prstGeom>
          <a:solidFill>
            <a:srgbClr val="F4BC3B"/>
          </a:solidFill>
          <a:ln/>
        </p:spPr>
      </p:sp>
      <p:sp>
        <p:nvSpPr>
          <p:cNvPr id="16" name="Text 14"/>
          <p:cNvSpPr/>
          <p:nvPr/>
        </p:nvSpPr>
        <p:spPr>
          <a:xfrm>
            <a:off x="8513064" y="22860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F2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513064" y="31546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3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Escudo permanente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513064" y="3657600"/>
            <a:ext cx="28346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F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Protección contra ataques, respaldos automáticos y vigilancia para detectar problemas a tiempo (AWS).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3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programa simple para dar de alta a sus clientes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para su equipo, pensado para personas que no saben nada de programación. Escriben el nombre del cliente y el sistema hace el resto.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392424" cy="2331720"/>
          </a:xfrm>
          <a:prstGeom prst="roundRect">
            <a:avLst>
              <a:gd name="adj" fmla="val 5490"/>
            </a:avLst>
          </a:prstGeom>
          <a:solidFill>
            <a:srgbClr val="F4F5F2"/>
          </a:solidFill>
          <a:ln w="12700">
            <a:solidFill>
              <a:srgbClr val="D7DDD8"/>
            </a:solidFill>
            <a:prstDash val="solid"/>
          </a:ln>
          <a:effectLst>
            <a:outerShdw sx="100000" sy="100000" kx="0" ky="0" algn="bl" rotWithShape="0" blurRad="114300" dist="38100" dir="5400000">
              <a:srgbClr val="7A8A80">
                <a:alpha val="3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920240" y="2103120"/>
            <a:ext cx="640080" cy="640080"/>
          </a:xfrm>
          <a:prstGeom prst="ellipse">
            <a:avLst/>
          </a:prstGeom>
          <a:solidFill>
            <a:srgbClr val="00A100"/>
          </a:solidFill>
          <a:ln/>
        </p:spPr>
      </p:sp>
      <p:sp>
        <p:nvSpPr>
          <p:cNvPr id="6" name="Text 4"/>
          <p:cNvSpPr/>
          <p:nvPr/>
        </p:nvSpPr>
        <p:spPr>
          <a:xfrm>
            <a:off x="192024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71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77240" y="2834640"/>
            <a:ext cx="29352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3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Escriben el nombre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329184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F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Ingresan el nombre del cliente y unos pocos datos (empresa, correo, nº de usuarios).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941064" y="1874520"/>
            <a:ext cx="4572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4398264" y="1874520"/>
            <a:ext cx="3392424" cy="2331720"/>
          </a:xfrm>
          <a:prstGeom prst="roundRect">
            <a:avLst>
              <a:gd name="adj" fmla="val 5490"/>
            </a:avLst>
          </a:prstGeom>
          <a:solidFill>
            <a:srgbClr val="F4F5F2"/>
          </a:solidFill>
          <a:ln w="12700">
            <a:solidFill>
              <a:srgbClr val="D7DDD8"/>
            </a:solidFill>
            <a:prstDash val="solid"/>
          </a:ln>
          <a:effectLst>
            <a:outerShdw sx="100000" sy="100000" kx="0" ky="0" algn="bl" rotWithShape="0" blurRad="114300" dist="38100" dir="5400000">
              <a:srgbClr val="7A8A80">
                <a:alpha val="3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769864" y="2103120"/>
            <a:ext cx="640080" cy="640080"/>
          </a:xfrm>
          <a:prstGeom prst="ellipse">
            <a:avLst/>
          </a:prstGeom>
          <a:solidFill>
            <a:srgbClr val="00A100"/>
          </a:solidFill>
          <a:ln/>
        </p:spPr>
      </p:sp>
      <p:sp>
        <p:nvSpPr>
          <p:cNvPr id="12" name="Text 10"/>
          <p:cNvSpPr/>
          <p:nvPr/>
        </p:nvSpPr>
        <p:spPr>
          <a:xfrm>
            <a:off x="5769864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71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626864" y="2834640"/>
            <a:ext cx="29352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3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genera el código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72584" y="329184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F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un clic, el sistema crea al cliente y genera un código único de registro.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790688" y="1874520"/>
            <a:ext cx="4572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8247888" y="1874520"/>
            <a:ext cx="3392424" cy="2331720"/>
          </a:xfrm>
          <a:prstGeom prst="roundRect">
            <a:avLst>
              <a:gd name="adj" fmla="val 5490"/>
            </a:avLst>
          </a:prstGeom>
          <a:solidFill>
            <a:srgbClr val="F4F5F2"/>
          </a:solidFill>
          <a:ln w="12700">
            <a:solidFill>
              <a:srgbClr val="D7DDD8"/>
            </a:solidFill>
            <a:prstDash val="solid"/>
          </a:ln>
          <a:effectLst>
            <a:outerShdw sx="100000" sy="100000" kx="0" ky="0" algn="bl" rotWithShape="0" blurRad="114300" dist="38100" dir="5400000">
              <a:srgbClr val="7A8A80">
                <a:alpha val="3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619488" y="2103120"/>
            <a:ext cx="640080" cy="640080"/>
          </a:xfrm>
          <a:prstGeom prst="ellipse">
            <a:avLst/>
          </a:prstGeom>
          <a:solidFill>
            <a:srgbClr val="00A100"/>
          </a:solidFill>
          <a:ln/>
        </p:spPr>
      </p:sp>
      <p:sp>
        <p:nvSpPr>
          <p:cNvPr id="18" name="Text 16"/>
          <p:cNvSpPr/>
          <p:nvPr/>
        </p:nvSpPr>
        <p:spPr>
          <a:xfrm>
            <a:off x="9619488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71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476488" y="2834640"/>
            <a:ext cx="29352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3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 queda listo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522208" y="329184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F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comparte el código; el cliente entra y aparece en su propia cuenta, aislada.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4526280"/>
            <a:ext cx="6766560" cy="1600200"/>
          </a:xfrm>
          <a:prstGeom prst="roundRect">
            <a:avLst>
              <a:gd name="adj" fmla="val 8000"/>
            </a:avLst>
          </a:prstGeom>
          <a:solidFill>
            <a:srgbClr val="F4F5F2"/>
          </a:solidFill>
          <a:ln w="12700">
            <a:solidFill>
              <a:srgbClr val="D7DDD8"/>
            </a:solidFill>
            <a:prstDash val="solid"/>
          </a:ln>
          <a:effectLst>
            <a:outerShdw sx="100000" sy="100000" kx="0" ky="0" algn="bl" rotWithShape="0" blurRad="114300" dist="38100" dir="5400000">
              <a:srgbClr val="7A8A80">
                <a:alpha val="3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77240" y="4663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3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Así se vería (borrador)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77240" y="5074920"/>
            <a:ext cx="40233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7DD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50749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3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del cliente:  Cervecería del Litoral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77240" y="5623560"/>
            <a:ext cx="1920240" cy="411480"/>
          </a:xfrm>
          <a:prstGeom prst="roundRect">
            <a:avLst>
              <a:gd name="adj" fmla="val 17778"/>
            </a:avLst>
          </a:prstGeom>
          <a:solidFill>
            <a:srgbClr val="00A100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56235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71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Generar cliente →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2880360" y="5605272"/>
            <a:ext cx="1920240" cy="448056"/>
          </a:xfrm>
          <a:prstGeom prst="roundRect">
            <a:avLst>
              <a:gd name="adj" fmla="val 16327"/>
            </a:avLst>
          </a:prstGeom>
          <a:solidFill>
            <a:srgbClr val="17281F"/>
          </a:solidFill>
          <a:ln/>
        </p:spPr>
      </p:sp>
      <p:sp>
        <p:nvSpPr>
          <p:cNvPr id="28" name="Text 26"/>
          <p:cNvSpPr/>
          <p:nvPr/>
        </p:nvSpPr>
        <p:spPr>
          <a:xfrm>
            <a:off x="2880360" y="5605272"/>
            <a:ext cx="19202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FF0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AMK-2026-CRESA-7F3Q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498080" y="4526280"/>
            <a:ext cx="4142232" cy="1600200"/>
          </a:xfrm>
          <a:prstGeom prst="roundRect">
            <a:avLst>
              <a:gd name="adj" fmla="val 8000"/>
            </a:avLst>
          </a:prstGeom>
          <a:solidFill>
            <a:srgbClr val="EFF9EF"/>
          </a:solidFill>
          <a:ln w="12700">
            <a:solidFill>
              <a:srgbClr val="A9D9AA"/>
            </a:solidFill>
            <a:prstDash val="solid"/>
          </a:ln>
          <a:effectLst>
            <a:outerShdw sx="100000" sy="100000" kx="0" ky="0" algn="bl" rotWithShape="0" blurRad="114300" dist="38100" dir="5400000">
              <a:srgbClr val="7A8A80">
                <a:alpha val="3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726680" y="4709160"/>
            <a:ext cx="3749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00000"/>
              </a:lnSpc>
              <a:spcAft>
                <a:spcPts val="700"/>
              </a:spcAft>
              <a:buSzPct val="100000"/>
              <a:buChar char="✓"/>
            </a:pPr>
            <a:r>
              <a:rPr lang="en-US" sz="1250" dirty="0">
                <a:solidFill>
                  <a:srgbClr val="2C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tocar la base a mano — el programa registra por ellos.</a:t>
            </a:r>
            <a:endParaRPr lang="en-US" sz="1250" dirty="0"/>
          </a:p>
          <a:p>
            <a:pPr marL="342900" indent="-342900">
              <a:lnSpc>
                <a:spcPct val="100000"/>
              </a:lnSpc>
              <a:spcAft>
                <a:spcPts val="700"/>
              </a:spcAft>
              <a:buSzPct val="100000"/>
              <a:buChar char="✓"/>
            </a:pPr>
            <a:r>
              <a:rPr lang="en-US" sz="1250" dirty="0">
                <a:solidFill>
                  <a:srgbClr val="2C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solo para personal autorizado de Ad Mavericks.</a:t>
            </a:r>
            <a:endParaRPr lang="en-US" sz="1250" dirty="0"/>
          </a:p>
          <a:p>
            <a:pPr marL="342900" indent="-342900">
              <a:lnSpc>
                <a:spcPct val="100000"/>
              </a:lnSpc>
              <a:spcAft>
                <a:spcPts val="700"/>
              </a:spcAft>
              <a:buSzPct val="100000"/>
              <a:buChar char="✓"/>
            </a:pPr>
            <a:r>
              <a:rPr lang="en-US" sz="1250" dirty="0">
                <a:solidFill>
                  <a:srgbClr val="2C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Queda registro de quién dio de alta a quién y cuándo.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3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información, protegida y respaldada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Tranquilidad para ustedes y para sus clientes. Cuatro garantías desde el primer día.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67528" cy="19202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7DDD8"/>
            </a:solidFill>
            <a:prstDash val="solid"/>
          </a:ln>
          <a:effectLst>
            <a:outerShdw sx="100000" sy="100000" kx="0" ky="0" algn="bl" rotWithShape="0" blurRad="114300" dist="38100" dir="5400000">
              <a:srgbClr val="7A8A80">
                <a:alpha val="3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94560"/>
            <a:ext cx="548640" cy="548640"/>
          </a:xfrm>
          <a:prstGeom prst="ellipse">
            <a:avLst/>
          </a:prstGeom>
          <a:solidFill>
            <a:srgbClr val="00A10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71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00200" y="21488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Aislamiento por cliente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600200" y="2697480"/>
            <a:ext cx="4160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5F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empresa en su propio “cuarto”. Nunca puede ver ni buscar datos de otra.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72784" y="1874520"/>
            <a:ext cx="5367528" cy="19202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7DDD8"/>
            </a:solidFill>
            <a:prstDash val="solid"/>
          </a:ln>
          <a:effectLst>
            <a:outerShdw sx="100000" sy="100000" kx="0" ky="0" algn="bl" rotWithShape="0" blurRad="114300" dist="38100" dir="5400000">
              <a:srgbClr val="7A8A80">
                <a:alpha val="3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92824" y="2194560"/>
            <a:ext cx="548640" cy="548640"/>
          </a:xfrm>
          <a:prstGeom prst="ellipse">
            <a:avLst/>
          </a:prstGeom>
          <a:solidFill>
            <a:srgbClr val="4B9EFF"/>
          </a:solidFill>
          <a:ln/>
        </p:spPr>
      </p:sp>
      <p:sp>
        <p:nvSpPr>
          <p:cNvPr id="11" name="Text 9"/>
          <p:cNvSpPr/>
          <p:nvPr/>
        </p:nvSpPr>
        <p:spPr>
          <a:xfrm>
            <a:off x="6592824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24344" y="21488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Respaldos probados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324344" y="2697480"/>
            <a:ext cx="4160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5F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Copias automáticas y recuperación a un punto en el tiempo, verificadas periódicamente.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3977640"/>
            <a:ext cx="5367528" cy="19202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7DDD8"/>
            </a:solidFill>
            <a:prstDash val="solid"/>
          </a:ln>
          <a:effectLst>
            <a:outerShdw sx="100000" sy="100000" kx="0" ky="0" algn="bl" rotWithShape="0" blurRad="114300" dist="38100" dir="5400000">
              <a:srgbClr val="7A8A80">
                <a:alpha val="3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8680" y="4297680"/>
            <a:ext cx="548640" cy="548640"/>
          </a:xfrm>
          <a:prstGeom prst="ellipse">
            <a:avLst/>
          </a:prstGeom>
          <a:solidFill>
            <a:srgbClr val="F4BC3B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297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F2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00200" y="42519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Escudo contra ataques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600200" y="4800600"/>
            <a:ext cx="4160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5F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Protección WAF y control de abuso en la infraestructura AWS.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272784" y="3977640"/>
            <a:ext cx="5367528" cy="19202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7DDD8"/>
            </a:solidFill>
            <a:prstDash val="solid"/>
          </a:ln>
          <a:effectLst>
            <a:outerShdw sx="100000" sy="100000" kx="0" ky="0" algn="bl" rotWithShape="0" blurRad="114300" dist="38100" dir="5400000">
              <a:srgbClr val="7A8A80">
                <a:alpha val="3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92824" y="4297680"/>
            <a:ext cx="548640" cy="548640"/>
          </a:xfrm>
          <a:prstGeom prst="ellipse">
            <a:avLst/>
          </a:prstGeom>
          <a:solidFill>
            <a:srgbClr val="FF735C"/>
          </a:solidFill>
          <a:ln/>
        </p:spPr>
      </p:sp>
      <p:sp>
        <p:nvSpPr>
          <p:cNvPr id="21" name="Text 19"/>
          <p:cNvSpPr/>
          <p:nvPr/>
        </p:nvSpPr>
        <p:spPr>
          <a:xfrm>
            <a:off x="6592824" y="4297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324344" y="42519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honestos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324344" y="4800600"/>
            <a:ext cx="4160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5F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se inventa una cifra: si un dato no está verificado, se marca “pendiente”.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3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lo haremos: 4 fases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Vamos por partes; cada fase entrega algo concreto. Primero los cimientos, después las compras reales.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566721" cy="2880360"/>
          </a:xfrm>
          <a:prstGeom prst="roundRect">
            <a:avLst>
              <a:gd name="adj" fmla="val 4988"/>
            </a:avLst>
          </a:prstGeom>
          <a:solidFill>
            <a:srgbClr val="FFFFFF"/>
          </a:solidFill>
          <a:ln w="12700">
            <a:solidFill>
              <a:srgbClr val="D7DDD8"/>
            </a:solidFill>
            <a:prstDash val="solid"/>
          </a:ln>
          <a:effectLst>
            <a:outerShdw sx="100000" sy="100000" kx="0" ky="0" algn="bl" rotWithShape="0" blurRad="114300" dist="38100" dir="5400000">
              <a:srgbClr val="7A8A80">
                <a:alpha val="3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48840"/>
            <a:ext cx="603504" cy="603504"/>
          </a:xfrm>
          <a:prstGeom prst="ellipse">
            <a:avLst/>
          </a:prstGeom>
          <a:solidFill>
            <a:srgbClr val="22392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4884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77240" y="288036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3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Preparación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3520440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5F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y entornos listos; decisiones confirmadas.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77240" y="4343400"/>
            <a:ext cx="1371600" cy="320040"/>
          </a:xfrm>
          <a:prstGeom prst="roundRect">
            <a:avLst>
              <a:gd name="adj" fmla="val 51429"/>
            </a:avLst>
          </a:prstGeom>
          <a:solidFill>
            <a:srgbClr val="E6F6E6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43434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7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sem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89681" y="1874520"/>
            <a:ext cx="2566721" cy="2880360"/>
          </a:xfrm>
          <a:prstGeom prst="roundRect">
            <a:avLst>
              <a:gd name="adj" fmla="val 4988"/>
            </a:avLst>
          </a:prstGeom>
          <a:solidFill>
            <a:srgbClr val="FFFFFF"/>
          </a:solidFill>
          <a:ln w="12700">
            <a:solidFill>
              <a:srgbClr val="D7DDD8"/>
            </a:solidFill>
            <a:prstDash val="solid"/>
          </a:ln>
          <a:effectLst>
            <a:outerShdw sx="100000" sy="100000" kx="0" ky="0" algn="bl" rotWithShape="0" blurRad="114300" dist="38100" dir="5400000">
              <a:srgbClr val="7A8A80">
                <a:alpha val="3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64001" y="2148840"/>
            <a:ext cx="603504" cy="603504"/>
          </a:xfrm>
          <a:prstGeom prst="ellipse">
            <a:avLst/>
          </a:prstGeom>
          <a:solidFill>
            <a:srgbClr val="00A100"/>
          </a:solidFill>
          <a:ln/>
        </p:spPr>
      </p:sp>
      <p:sp>
        <p:nvSpPr>
          <p:cNvPr id="13" name="Text 11"/>
          <p:cNvSpPr/>
          <p:nvPr/>
        </p:nvSpPr>
        <p:spPr>
          <a:xfrm>
            <a:off x="3664001" y="214884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71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618281" y="288036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3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+ Consola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618281" y="3520440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5F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Login, roles, aislamiento y la Consola de Alta de Clientes.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18281" y="4343400"/>
            <a:ext cx="1371600" cy="320040"/>
          </a:xfrm>
          <a:prstGeom prst="roundRect">
            <a:avLst>
              <a:gd name="adj" fmla="val 51429"/>
            </a:avLst>
          </a:prstGeom>
          <a:solidFill>
            <a:srgbClr val="E6F6E6"/>
          </a:solidFill>
          <a:ln/>
        </p:spPr>
      </p:sp>
      <p:sp>
        <p:nvSpPr>
          <p:cNvPr id="17" name="Text 15"/>
          <p:cNvSpPr/>
          <p:nvPr/>
        </p:nvSpPr>
        <p:spPr>
          <a:xfrm>
            <a:off x="3618281" y="43434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7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4–6 sem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30722" y="1874520"/>
            <a:ext cx="2566721" cy="2880360"/>
          </a:xfrm>
          <a:prstGeom prst="roundRect">
            <a:avLst>
              <a:gd name="adj" fmla="val 4988"/>
            </a:avLst>
          </a:prstGeom>
          <a:solidFill>
            <a:srgbClr val="FFFFFF"/>
          </a:solidFill>
          <a:ln w="12700">
            <a:solidFill>
              <a:srgbClr val="D7DDD8"/>
            </a:solidFill>
            <a:prstDash val="solid"/>
          </a:ln>
          <a:effectLst>
            <a:outerShdw sx="100000" sy="100000" kx="0" ky="0" algn="bl" rotWithShape="0" blurRad="114300" dist="38100" dir="5400000">
              <a:srgbClr val="7A8A80">
                <a:alpha val="3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505042" y="2148840"/>
            <a:ext cx="603504" cy="603504"/>
          </a:xfrm>
          <a:prstGeom prst="ellipse">
            <a:avLst/>
          </a:prstGeom>
          <a:solidFill>
            <a:srgbClr val="4B9EFF"/>
          </a:solidFill>
          <a:ln/>
        </p:spPr>
      </p:sp>
      <p:sp>
        <p:nvSpPr>
          <p:cNvPr id="20" name="Text 18"/>
          <p:cNvSpPr/>
          <p:nvPr/>
        </p:nvSpPr>
        <p:spPr>
          <a:xfrm>
            <a:off x="6505042" y="214884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459322" y="288036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3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y cotización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59322" y="3520440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5F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Proveedores, tarifas, cotizaciones y reservas reales.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59322" y="4343400"/>
            <a:ext cx="1371600" cy="320040"/>
          </a:xfrm>
          <a:prstGeom prst="roundRect">
            <a:avLst>
              <a:gd name="adj" fmla="val 51429"/>
            </a:avLst>
          </a:prstGeom>
          <a:solidFill>
            <a:srgbClr val="E6F6E6"/>
          </a:solidFill>
          <a:ln/>
        </p:spPr>
      </p:sp>
      <p:sp>
        <p:nvSpPr>
          <p:cNvPr id="24" name="Text 22"/>
          <p:cNvSpPr/>
          <p:nvPr/>
        </p:nvSpPr>
        <p:spPr>
          <a:xfrm>
            <a:off x="6459322" y="43434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7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5–7 sem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071762" y="1874520"/>
            <a:ext cx="2566721" cy="2880360"/>
          </a:xfrm>
          <a:prstGeom prst="roundRect">
            <a:avLst>
              <a:gd name="adj" fmla="val 4988"/>
            </a:avLst>
          </a:prstGeom>
          <a:solidFill>
            <a:srgbClr val="FFFFFF"/>
          </a:solidFill>
          <a:ln w="12700">
            <a:solidFill>
              <a:srgbClr val="D7DDD8"/>
            </a:solidFill>
            <a:prstDash val="solid"/>
          </a:ln>
          <a:effectLst>
            <a:outerShdw sx="100000" sy="100000" kx="0" ky="0" algn="bl" rotWithShape="0" blurRad="114300" dist="38100" dir="5400000">
              <a:srgbClr val="7A8A80">
                <a:alpha val="3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346082" y="2148840"/>
            <a:ext cx="603504" cy="603504"/>
          </a:xfrm>
          <a:prstGeom prst="ellipse">
            <a:avLst/>
          </a:prstGeom>
          <a:solidFill>
            <a:srgbClr val="F4BC3B"/>
          </a:solidFill>
          <a:ln/>
        </p:spPr>
      </p:sp>
      <p:sp>
        <p:nvSpPr>
          <p:cNvPr id="27" name="Text 25"/>
          <p:cNvSpPr/>
          <p:nvPr/>
        </p:nvSpPr>
        <p:spPr>
          <a:xfrm>
            <a:off x="9346082" y="214884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F2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9300362" y="288036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3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Órdenes, cobro y móvil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300362" y="3520440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5F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 vinculante, facturación, cobro y app móvil.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9300362" y="4343400"/>
            <a:ext cx="1371600" cy="320040"/>
          </a:xfrm>
          <a:prstGeom prst="roundRect">
            <a:avLst>
              <a:gd name="adj" fmla="val 51429"/>
            </a:avLst>
          </a:prstGeom>
          <a:solidFill>
            <a:srgbClr val="E6F6E6"/>
          </a:solidFill>
          <a:ln/>
        </p:spPr>
      </p:sp>
      <p:sp>
        <p:nvSpPr>
          <p:cNvPr id="31" name="Text 29"/>
          <p:cNvSpPr/>
          <p:nvPr/>
        </p:nvSpPr>
        <p:spPr>
          <a:xfrm>
            <a:off x="9300362" y="43434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7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6–10 sem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48640" y="5212080"/>
            <a:ext cx="811586" cy="457200"/>
          </a:xfrm>
          <a:prstGeom prst="rect">
            <a:avLst/>
          </a:prstGeom>
          <a:solidFill>
            <a:srgbClr val="22392F"/>
          </a:solidFill>
          <a:ln/>
        </p:spPr>
      </p:sp>
      <p:sp>
        <p:nvSpPr>
          <p:cNvPr id="33" name="Text 31"/>
          <p:cNvSpPr/>
          <p:nvPr/>
        </p:nvSpPr>
        <p:spPr>
          <a:xfrm>
            <a:off x="548640" y="5212080"/>
            <a:ext cx="8115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0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360226" y="5212080"/>
            <a:ext cx="2705286" cy="457200"/>
          </a:xfrm>
          <a:prstGeom prst="rect">
            <a:avLst/>
          </a:prstGeom>
          <a:solidFill>
            <a:srgbClr val="00A100"/>
          </a:solidFill>
          <a:ln/>
        </p:spPr>
      </p:sp>
      <p:sp>
        <p:nvSpPr>
          <p:cNvPr id="35" name="Text 33"/>
          <p:cNvSpPr/>
          <p:nvPr/>
        </p:nvSpPr>
        <p:spPr>
          <a:xfrm>
            <a:off x="1360226" y="5212080"/>
            <a:ext cx="27052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1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065512" y="5212080"/>
            <a:ext cx="3246343" cy="457200"/>
          </a:xfrm>
          <a:prstGeom prst="rect">
            <a:avLst/>
          </a:prstGeom>
          <a:solidFill>
            <a:srgbClr val="4B9EFF"/>
          </a:solidFill>
          <a:ln/>
        </p:spPr>
      </p:sp>
      <p:sp>
        <p:nvSpPr>
          <p:cNvPr id="37" name="Text 35"/>
          <p:cNvSpPr/>
          <p:nvPr/>
        </p:nvSpPr>
        <p:spPr>
          <a:xfrm>
            <a:off x="4065512" y="5212080"/>
            <a:ext cx="32463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311855" y="5212080"/>
            <a:ext cx="4328457" cy="457200"/>
          </a:xfrm>
          <a:prstGeom prst="rect">
            <a:avLst/>
          </a:prstGeom>
          <a:solidFill>
            <a:srgbClr val="F4BC3B"/>
          </a:solidFill>
          <a:ln/>
        </p:spPr>
      </p:sp>
      <p:sp>
        <p:nvSpPr>
          <p:cNvPr id="39" name="Text 37"/>
          <p:cNvSpPr/>
          <p:nvPr/>
        </p:nvSpPr>
        <p:spPr>
          <a:xfrm>
            <a:off x="7311855" y="5212080"/>
            <a:ext cx="432845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2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48640" y="58064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F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aproximado: 4–6 meses (equipo de 2 personas). Las fases 2 y 3 pueden solaparse.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72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291840"/>
            <a:ext cx="5943600" cy="5943600"/>
          </a:xfrm>
          <a:prstGeom prst="ellipse">
            <a:avLst/>
          </a:prstGeom>
          <a:ln w="12700">
            <a:solidFill>
              <a:srgbClr val="2E4A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MAVERICKS</a:t>
            </a:r>
            <a:pPr algn="l" indent="0" marL="0">
              <a:buNone/>
            </a:pPr>
            <a:r>
              <a:rPr lang="en-US" sz="1100" b="1" dirty="0">
                <a:solidFill>
                  <a:srgbClr val="07140E"/>
                </a:solidFill>
                <a:highlight>
                  <a:srgbClr val="00A1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 ONE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20116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siguiente paso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66928" y="3017520"/>
            <a:ext cx="8686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C9D3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Confirmar unas pocas decisiones y entregarnos los primeros accesos.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C9D3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eso arrancamos la Fase 1: seguridad, cuentas y la Consola de Alta de Clientes.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4480560"/>
            <a:ext cx="7863840" cy="1234440"/>
          </a:xfrm>
          <a:prstGeom prst="roundRect">
            <a:avLst>
              <a:gd name="adj" fmla="val 10370"/>
            </a:avLst>
          </a:prstGeom>
          <a:solidFill>
            <a:srgbClr val="1E3227"/>
          </a:solidFill>
          <a:ln w="12700">
            <a:solidFill>
              <a:srgbClr val="007D00"/>
            </a:solidFill>
            <a:prstDash val="solid"/>
          </a:ln>
          <a:effectLst>
            <a:outerShdw sx="100000" sy="100000" kx="0" ky="0" algn="bl" rotWithShape="0" blurRad="114300" dist="38100" dir="5400000">
              <a:srgbClr val="7A8A80">
                <a:alpha val="3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4828032"/>
            <a:ext cx="548640" cy="548640"/>
          </a:xfrm>
          <a:prstGeom prst="ellipse">
            <a:avLst/>
          </a:prstGeom>
          <a:solidFill>
            <a:srgbClr val="00A100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48280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71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645920" y="46177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de oro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645920" y="4983480"/>
            <a:ext cx="6492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9D3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abre a clientes externos ni se cobra un solo dólar hasta tener la seguridad lista.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48640" y="63093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Mavericks One · Documento de trabajo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 Mavericks One — Qué vamos a hacer</dc:title>
  <dc:subject>PptxGenJS Presentation</dc:subject>
  <dc:creator>Ad Mavericks</dc:creator>
  <cp:lastModifiedBy>Ad Mavericks</cp:lastModifiedBy>
  <cp:revision>1</cp:revision>
  <dcterms:created xsi:type="dcterms:W3CDTF">2026-08-12T22:53:06Z</dcterms:created>
  <dcterms:modified xsi:type="dcterms:W3CDTF">2026-08-12T22:53:06Z</dcterms:modified>
</cp:coreProperties>
</file>